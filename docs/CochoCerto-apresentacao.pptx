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638ae42-b9b3-b3df-50e0-ccdb79b3d5a1}">
          <p14:sldIdLst>
            <p14:sldId id="256"/>
          </p14:sldIdLst>
        </p14:section>
        <p14:section name="O problema" id="{e7c163f4-eff9-8c45-4343-386d20aaa2f3}">
          <p14:sldIdLst>
            <p14:sldId id="257"/>
            <p14:sldId id="258"/>
          </p14:sldIdLst>
        </p14:section>
        <p14:section name="Demonstração" id="{51aa857d-866f-525e-01f3-fcb8f0e367cb}">
          <p14:sldIdLst>
            <p14:sldId id="259"/>
          </p14:sldIdLst>
        </p14:section>
        <p14:section name="Como funciona" id="{3451247a-fc25-34be-1d29-cc6e68ab7e5e}">
          <p14:sldIdLst>
            <p14:sldId id="260"/>
            <p14:sldId id="261"/>
            <p14:sldId id="262"/>
          </p14:sldIdLst>
        </p14:section>
        <p14:section name="Processo" id="{91080743-6929-fb42-78bc-30a2d75d6fc7}">
          <p14:sldIdLst>
            <p14:sldId id="263"/>
            <p14:sldId id="264"/>
          </p14:sldIdLst>
        </p14:section>
        <p14:section name="Fechamento" id="{a8ffaaea-9e75-2c8c-e1c3-9d4440da6cf7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tema escolhido (T2 — Dietas) e o nome do sistema, CochoCerto. O ciclo à direita resume a proposta: formular, acompanhar e ajustar.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software só para formular dietas já existe e é amplamente utilizado: o NASEM 2021. Na conversa, a Júlia confirma que ele é a base para todo mundo: a pessoa joga os dados e recebe a dieta pronta. O que falta é 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Portanto, resolvemos ir além: uma ferramenta que não apenas calcula a melhor dieta, mas que a ajusta através de um acompanhamento que muitas vezes o produtor já realiza. O Luiz Henrique resumiu: isso é o que todo produtor quer. Assim surgiu o CochoCerto.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da demonstração ao vivo do sistema rodando em localhost.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produtor ou técnico usa a interface React (no computador ou no celular, modo campo). Ela chama a API FastAPI pelo proxy /api. O services.py monta a memória de trabalho de cada fluxo e aciona o motor de inferência, que lê a base de conhecimento em YAML e chama as funções puras de cálculo. O otimizador faz o PL de custo mínimo com metas vindas do motor; o monitor transforma os registros em séries; os alertas viram episódios; tudo fica em SQLite. Preços (Cepea, IPEADATA) e clima (Open-Meteo) são só dados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real da base: a regra ACP-10 conclui que a causa provável da queda é o calor quando há queda sustentada, ITU alto nos dois dias anteriores, nenhuma troca recente de volumoso e nenhuma suspeita de mastite. Cada regra tem prioridade, fator de certeza, fonte e força de evidência. Os limiares ficam em params.yaml, também com fonte e força: por exemplo o ITU de 72 para holandesas, a queda de 10% em 7 dias e a janela de 48 h de supressão após movimentação. São 173 regras e 165 parâmetros, versão 1.9.0 da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cada ciclo o motor casa as regras com os fatos da memória de trabalho; premissa com fator de certeza abaixo de 0,2 é tratada como desconhecida. As regras que casam formam o conjunto de conflito, ordenado por módulo, prioridade, especificidade e recência. Só a primeira dispara; a refração impede que a mesma regra dispare de novo com os mesmos fatos. Tudo vai para o traço, que gera as explicações. Por último rodam as meta-regras: mastite primeiro, calor explica e a espera de 48 horas após movimentação ou correção de MS. Quando duas regras chegam à mesma conclusão, os CFs se combinam no estilo MYCIN.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IA, o Claude Code, escreveu código e regras, pesquisou fontes e auditou o sistema com subagentes; o time decidiu o escopo, revisou e testou. Começamos pela pesquisa de domínio, depois um plano completo e um CLAUDE.md com as regras de trabalho comuns. A implementação foi guiada por testes. Numa auditoria descobrimos que 34% das dietas ótimas do PL eram reprovadas pela própria verificação: unificamos as definições e chegamos a zero. No fim, usamos o sistema como o produtor usaria. Tudo documentado em docs/processo-ia.md.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Existem casos de teste para validar cada etapa do motor: classificação, exigências, verificação, formulação, acompanhamento e meta-regras. Por exemplo, o caso T1: vaca de 650 kg com 35 kg de leite tem consumo de matéria seca de cerca de 21,2 kg pelo NRC 2001. Toda alteração passa por eles: mudança de código exige pytest verde antes do commit; regra nova passa pelo validador da base; e mesmo um parâmetro alterado diretamente pela interface sobe a versão da base, registra no changelog e roda os 37 casos na hora. Além disso, 300 perfis garantem que toda dieta ótima do PL é aprovada pela verificação.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Limitações: os valores de referência precisam ser validados por um zootecnista (cada um tem fonte e força de evidência, e os de força D são escolhas de engenharia); não há controle por vaca, sensores ou KPIs reprodutivos; e falta validar e ajustar com dados reais de fazendas.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aprendemos: na prática, regras explícitas, fator de certeza e encadeamento tornam cada decisão auditável e explicável. Planejar antes de codificar, com um plano completo e regras de trabalho comuns, manteve as três pessoas e seus agentes no mesmo padrão. E usar o sistema como o produtor usa revelou problemas que nenhum teste automático pegou.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CochoCerto fecha o ciclo que o produtor pediu, de formular a acompanhar e ajustar, sempre com a base de conhecimento e o motor de inferência decidindo, de forma determinística e auditável.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CochoCerto  ·  Hackathon UFJF 2026  ·  Tema T2 — Dietas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HACKATHON UFJF 2026  ·  XXVIII SEMANA DA COMPUTAÇÃO DCC/UFJF  ·  RERUM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CochoCerto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461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Sistema especialista que formula e acompanha a dieta de lotes de vacas leiteiras</a:t>
            </a:r>
            <a:endParaRPr lang="en-US" sz="2200" dirty="0"/>
          </a:p>
        </p:txBody>
      </p:sp>
      <p:sp>
        <p:nvSpPr>
          <p:cNvPr id="5" name="tema-chip"/>
          <p:cNvSpPr/>
          <p:nvPr/>
        </p:nvSpPr>
        <p:spPr>
          <a:xfrm>
            <a:off x="731520" y="461772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617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Tema T2 · Dietas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49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Uso de IA na produção de Sistemas Especialistas em benefício da Pecuária Leiteira</a:t>
            </a:r>
            <a:endParaRPr lang="en-US" sz="1400" dirty="0"/>
          </a:p>
        </p:txBody>
      </p:sp>
      <p:sp>
        <p:nvSpPr>
          <p:cNvPr id="8" name="ciclo-seta-0"/>
          <p:cNvSpPr/>
          <p:nvPr/>
        </p:nvSpPr>
        <p:spPr>
          <a:xfrm>
            <a:off x="9976104" y="2831662"/>
            <a:ext cx="306998" cy="531736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9" name="ciclo-seta-1"/>
          <p:cNvSpPr/>
          <p:nvPr/>
        </p:nvSpPr>
        <p:spPr>
          <a:xfrm flipH="1">
            <a:off x="9248482" y="4091940"/>
            <a:ext cx="613996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ciclo-seta-2"/>
          <p:cNvSpPr/>
          <p:nvPr/>
        </p:nvSpPr>
        <p:spPr>
          <a:xfrm flipV="1">
            <a:off x="8827858" y="2831662"/>
            <a:ext cx="306998" cy="531736"/>
          </a:xfrm>
          <a:prstGeom prst="line">
            <a:avLst/>
          </a:prstGeom>
          <a:noFill/>
          <a:ln w="285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ciclo-Formular"/>
          <p:cNvSpPr/>
          <p:nvPr/>
        </p:nvSpPr>
        <p:spPr>
          <a:xfrm>
            <a:off x="8805672" y="1353312"/>
            <a:ext cx="1499616" cy="14996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05672" y="135331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Formular</a:t>
            </a:r>
            <a:endParaRPr lang="en-US" sz="1500" dirty="0"/>
          </a:p>
        </p:txBody>
      </p:sp>
      <p:sp>
        <p:nvSpPr>
          <p:cNvPr id="13" name="ciclo-Acompanhar"/>
          <p:cNvSpPr/>
          <p:nvPr/>
        </p:nvSpPr>
        <p:spPr>
          <a:xfrm>
            <a:off x="9953918" y="3342132"/>
            <a:ext cx="1499616" cy="14996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53918" y="334213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Acompanhar</a:t>
            </a:r>
            <a:endParaRPr lang="en-US" sz="1500" dirty="0"/>
          </a:p>
        </p:txBody>
      </p:sp>
      <p:sp>
        <p:nvSpPr>
          <p:cNvPr id="15" name="ciclo-Ajustar"/>
          <p:cNvSpPr/>
          <p:nvPr/>
        </p:nvSpPr>
        <p:spPr>
          <a:xfrm>
            <a:off x="7657426" y="3342132"/>
            <a:ext cx="1499616" cy="14996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57426" y="3342132"/>
            <a:ext cx="1499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Ajustar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A DOR DO PRODUTOR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Formular a dieta já é um problema resolvido</a:t>
            </a:r>
            <a:endParaRPr lang="en-US" sz="3400" dirty="0"/>
          </a:p>
        </p:txBody>
      </p:sp>
      <p:sp>
        <p:nvSpPr>
          <p:cNvPr id="4" name="card-nasem"/>
          <p:cNvSpPr/>
          <p:nvPr/>
        </p:nvSpPr>
        <p:spPr>
          <a:xfrm>
            <a:off x="548640" y="1463040"/>
            <a:ext cx="69494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6400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NASEM 2021</a:t>
            </a:r>
            <a:endParaRPr lang="en-US" sz="4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Nutrient Requirements of Dairy Cattle: a referência e o software mais usados para formular dietas de vacas leiteiras.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“A pessoa vai lá, joga os dados e ele já te dá o negócio pronto.”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Júlia, sobre o programa que todo mundo usa como base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Mas e depois?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dieta sai do papel e ninguém acompanha se ela está dando resultado no cocho e no tanque de leite.</a:t>
            </a:r>
            <a:endParaRPr lang="en-US" sz="1700" dirty="0"/>
          </a:p>
        </p:txBody>
      </p:sp>
      <p:sp>
        <p:nvSpPr>
          <p:cNvPr id="8" name="moldura-julia"/>
          <p:cNvSpPr/>
          <p:nvPr/>
        </p:nvSpPr>
        <p:spPr>
          <a:xfrm>
            <a:off x="8092440" y="1325880"/>
            <a:ext cx="2971800" cy="4919472"/>
          </a:xfrm>
          <a:prstGeom prst="rect">
            <a:avLst/>
          </a:prstGeom>
          <a:solidFill>
            <a:schemeClr val="bg1"/>
          </a:solidFill>
          <a:ln w="9525">
            <a:solidFill>
              <a:srgbClr val="D8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print-julia" descr="Conversa no WhatsApp com Júlia sobre o programa de formulação de die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0"/>
            <a:ext cx="2880360" cy="4828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ASSIM SURGIU O COCHOCERTO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Fomos além: formular e acompanhar</a:t>
            </a:r>
            <a:endParaRPr lang="en-US" sz="3400" dirty="0"/>
          </a:p>
        </p:txBody>
      </p:sp>
      <p:sp>
        <p:nvSpPr>
          <p:cNvPr id="4" name="moldura-luiz"/>
          <p:cNvSpPr/>
          <p:nvPr/>
        </p:nvSpPr>
        <p:spPr>
          <a:xfrm>
            <a:off x="548640" y="1417320"/>
            <a:ext cx="4846320" cy="4178808"/>
          </a:xfrm>
          <a:prstGeom prst="rect">
            <a:avLst/>
          </a:prstGeom>
          <a:solidFill>
            <a:schemeClr val="bg1"/>
          </a:solidFill>
          <a:ln w="9525">
            <a:solidFill>
              <a:srgbClr val="D8DE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print-luiz" descr="Conversa no WhatsApp com Luiz Henrique: isso é o que todo produtor qu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4754880" cy="4087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15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“Isso é o que todo produtor quer” — Luiz Henrique</a:t>
            </a:r>
            <a:endParaRPr lang="en-US" sz="1300" dirty="0"/>
          </a:p>
        </p:txBody>
      </p:sp>
      <p:sp>
        <p:nvSpPr>
          <p:cNvPr id="7" name="ciclo-Formular"/>
          <p:cNvSpPr/>
          <p:nvPr/>
        </p:nvSpPr>
        <p:spPr>
          <a:xfrm>
            <a:off x="5989320" y="141732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617220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0756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Formular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dieta de custo mínimo (PL) com os preços da fazenda</a:t>
            </a:r>
            <a:endParaRPr lang="en-US" sz="1800" dirty="0"/>
          </a:p>
        </p:txBody>
      </p:sp>
      <p:sp>
        <p:nvSpPr>
          <p:cNvPr id="11" name="ciclo-Acompanhar"/>
          <p:cNvSpPr/>
          <p:nvPr/>
        </p:nvSpPr>
        <p:spPr>
          <a:xfrm>
            <a:off x="8961120" y="141732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num-2"/>
          <p:cNvSpPr/>
          <p:nvPr/>
        </p:nvSpPr>
        <p:spPr>
          <a:xfrm>
            <a:off x="914400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0756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Acompanhar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leite, cocho, silagem, ECC e laudo do laticínio</a:t>
            </a:r>
            <a:endParaRPr lang="en-US" sz="1800" dirty="0"/>
          </a:p>
        </p:txBody>
      </p:sp>
      <p:sp>
        <p:nvSpPr>
          <p:cNvPr id="15" name="ciclo-Detectar"/>
          <p:cNvSpPr/>
          <p:nvPr/>
        </p:nvSpPr>
        <p:spPr>
          <a:xfrm>
            <a:off x="8961120" y="36118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num-3"/>
          <p:cNvSpPr/>
          <p:nvPr/>
        </p:nvSpPr>
        <p:spPr>
          <a:xfrm>
            <a:off x="9144000" y="3794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42702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Detectar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queda × curva esperada, alertas com causa provável</a:t>
            </a:r>
            <a:endParaRPr lang="en-US" sz="1800" dirty="0"/>
          </a:p>
        </p:txBody>
      </p:sp>
      <p:sp>
        <p:nvSpPr>
          <p:cNvPr id="19" name="ciclo-Ajustar"/>
          <p:cNvSpPr/>
          <p:nvPr/>
        </p:nvSpPr>
        <p:spPr>
          <a:xfrm>
            <a:off x="5989320" y="36118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20" name="num-4"/>
          <p:cNvSpPr/>
          <p:nvPr/>
        </p:nvSpPr>
        <p:spPr>
          <a:xfrm>
            <a:off x="6172200" y="3794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42702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Ajustar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aviso que já propõe a nova dieta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668512" y="2212848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0287000" y="3044952"/>
            <a:ext cx="0" cy="53949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 flipH="1">
            <a:off x="8668512" y="4407408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V="1">
            <a:off x="7315200" y="3044952"/>
            <a:ext cx="0" cy="53949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5989320" y="544068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Não só calcula a melhor dieta: ajusta pelo acompanhamento que o produtor muitas vezes já faz.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Demonstração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 CochoCerto rodando por completo em localhost</a:t>
            </a:r>
            <a:endParaRPr lang="en-US" sz="2200" dirty="0"/>
          </a:p>
        </p:txBody>
      </p:sp>
      <p:sp>
        <p:nvSpPr>
          <p:cNvPr id="4" name="demo-icone"/>
          <p:cNvSpPr/>
          <p:nvPr/>
        </p:nvSpPr>
        <p:spPr>
          <a:xfrm>
            <a:off x="8778240" y="18288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demo-icone-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2399386"/>
            <a:ext cx="1236269" cy="12362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Interface  localhost:5173   ·   API  localhost:8000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REGRAS DE PRODUÇÃO E 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Arquitetura: o caminho de uma requisição</a:t>
            </a:r>
            <a:endParaRPr lang="en-US" sz="3400" dirty="0"/>
          </a:p>
        </p:txBody>
      </p:sp>
      <p:sp>
        <p:nvSpPr>
          <p:cNvPr id="4" name="arq-usuario"/>
          <p:cNvSpPr/>
          <p:nvPr/>
        </p:nvSpPr>
        <p:spPr>
          <a:xfrm>
            <a:off x="548640" y="320040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32004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Produtor / técnico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navegador ou celular</a:t>
            </a:r>
            <a:endParaRPr lang="en-US" sz="1400" dirty="0"/>
          </a:p>
        </p:txBody>
      </p:sp>
      <p:sp>
        <p:nvSpPr>
          <p:cNvPr id="6" name="arq-react"/>
          <p:cNvSpPr/>
          <p:nvPr/>
        </p:nvSpPr>
        <p:spPr>
          <a:xfrm>
            <a:off x="2240280" y="320040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13432" y="320040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+ Vite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visão do produtor, técnica e modo campo</a:t>
            </a:r>
            <a:endParaRPr lang="en-US" sz="1400" dirty="0"/>
          </a:p>
        </p:txBody>
      </p:sp>
      <p:sp>
        <p:nvSpPr>
          <p:cNvPr id="8" name="arq-fastapi"/>
          <p:cNvSpPr/>
          <p:nvPr/>
        </p:nvSpPr>
        <p:spPr>
          <a:xfrm>
            <a:off x="4343400" y="320040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320040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rotas</a:t>
            </a:r>
            <a:endParaRPr lang="en-US" sz="1400" dirty="0"/>
          </a:p>
        </p:txBody>
      </p:sp>
      <p:sp>
        <p:nvSpPr>
          <p:cNvPr id="10" name="arq-services"/>
          <p:cNvSpPr/>
          <p:nvPr/>
        </p:nvSpPr>
        <p:spPr>
          <a:xfrm>
            <a:off x="5989320" y="3200400"/>
            <a:ext cx="16916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62472" y="320040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services.py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monta a memória de trabalho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20240" y="3657600"/>
            <a:ext cx="30175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3657600"/>
            <a:ext cx="43891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749040" y="3273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/api (proxy)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3657600"/>
            <a:ext cx="30175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arq-fontes"/>
          <p:cNvSpPr/>
          <p:nvPr/>
        </p:nvSpPr>
        <p:spPr>
          <a:xfrm>
            <a:off x="5897880" y="4754880"/>
            <a:ext cx="187452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971032" y="475488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Fontes públicas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Cepea · IPEADATA · Open-Meteo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V="1">
            <a:off x="6835140" y="4133088"/>
            <a:ext cx="0" cy="60350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03720" y="4297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só dados</a:t>
            </a:r>
            <a:endParaRPr lang="en-US" sz="1000" dirty="0"/>
          </a:p>
        </p:txBody>
      </p:sp>
      <p:sp>
        <p:nvSpPr>
          <p:cNvPr id="20" name="arq-engine/"/>
          <p:cNvSpPr/>
          <p:nvPr/>
        </p:nvSpPr>
        <p:spPr>
          <a:xfrm>
            <a:off x="8229600" y="1837944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837944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Motor de inferência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engine/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7680960" y="2139696"/>
            <a:ext cx="530352" cy="151790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arq-optimizer/lp.py · PL custo mín."/>
          <p:cNvSpPr/>
          <p:nvPr/>
        </p:nvSpPr>
        <p:spPr>
          <a:xfrm>
            <a:off x="8229600" y="2596896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2596896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Otimizador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optimizer/lp.py · PL custo mín.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7680960" y="2898648"/>
            <a:ext cx="530352" cy="75895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arq-monitor/ · séries, curva, resíduo"/>
          <p:cNvSpPr/>
          <p:nvPr/>
        </p:nvSpPr>
        <p:spPr>
          <a:xfrm>
            <a:off x="8229600" y="3355848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3355848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Monitor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monitor/ · séries, curva, resíduo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3657600"/>
            <a:ext cx="53035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arq-alertas.py · episódios"/>
          <p:cNvSpPr/>
          <p:nvPr/>
        </p:nvSpPr>
        <p:spPr>
          <a:xfrm>
            <a:off x="8229600" y="411480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02752" y="411480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Alertas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alertas.py · episódios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3657600"/>
            <a:ext cx="530352" cy="75895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arq-SQLModel"/>
          <p:cNvSpPr/>
          <p:nvPr/>
        </p:nvSpPr>
        <p:spPr>
          <a:xfrm>
            <a:off x="8229600" y="4873752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02752" y="4873752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SQLite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SQLModel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80960" y="3657600"/>
            <a:ext cx="530352" cy="151790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arq-kb"/>
          <p:cNvSpPr/>
          <p:nvPr/>
        </p:nvSpPr>
        <p:spPr>
          <a:xfrm>
            <a:off x="10378440" y="1316736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51592" y="1316736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Base de conhecimento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kb/*.yaml</a:t>
            </a:r>
            <a:endParaRPr lang="en-US" sz="1200" dirty="0"/>
          </a:p>
        </p:txBody>
      </p:sp>
      <p:sp>
        <p:nvSpPr>
          <p:cNvPr id="37" name="arq-calc"/>
          <p:cNvSpPr/>
          <p:nvPr/>
        </p:nvSpPr>
        <p:spPr>
          <a:xfrm>
            <a:off x="10378440" y="2322576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451592" y="2322576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calc/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funções puras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 flipV="1">
            <a:off x="10058400" y="1636776"/>
            <a:ext cx="301752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58400" y="2185416"/>
            <a:ext cx="301752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Só o motor decide.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Otimizador, monitor e cálculos são ferramentas que ele usa; as fontes externas só trazem dados — e sem internet tudo continua funcionando.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REGRAS DE PRODUÇÃO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Conhecimento explícito, com fonte e força</a:t>
            </a:r>
            <a:endParaRPr lang="en-US" sz="3400" dirty="0"/>
          </a:p>
        </p:txBody>
      </p:sp>
      <p:sp>
        <p:nvSpPr>
          <p:cNvPr id="4" name="codigo-regra"/>
          <p:cNvSpPr/>
          <p:nvPr/>
        </p:nvSpPr>
        <p:spPr>
          <a:xfrm>
            <a:off x="548640" y="1417320"/>
            <a:ext cx="5806440" cy="4663440"/>
          </a:xfrm>
          <a:prstGeom prst="roundRect">
            <a:avLst>
              <a:gd name="adj" fmla="val 1961"/>
            </a:avLst>
          </a:prstGeom>
          <a:solidFill>
            <a:srgbClr val="142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FC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kb/rules/acp_diario.yaml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ACP-10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descricao: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 de leite com ITU alto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causa provável é calor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prioridade: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cf: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se: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hipotese.queda_sustentada = true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mon.itu_2d &gt;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$mon.itu_limiar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sem troca recente de volumoso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hipotese.mastite ausente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entao: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concluir: hipotese.causa_calor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alerta: "O calor explica a queda"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Dossiê ACP-10; Negri 2021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C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forca: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50" dirty="0"/>
          </a:p>
        </p:txBody>
      </p:sp>
      <p:sp>
        <p:nvSpPr>
          <p:cNvPr id="6" name="stat-regras de produção"/>
          <p:cNvSpPr/>
          <p:nvPr/>
        </p:nvSpPr>
        <p:spPr>
          <a:xfrm>
            <a:off x="6720840" y="1417320"/>
            <a:ext cx="1508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20840" y="1417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173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regras de produção</a:t>
            </a:r>
            <a:endParaRPr lang="en-US" sz="3000" dirty="0"/>
          </a:p>
        </p:txBody>
      </p:sp>
      <p:sp>
        <p:nvSpPr>
          <p:cNvPr id="8" name="stat-parâmetros com fonte"/>
          <p:cNvSpPr/>
          <p:nvPr/>
        </p:nvSpPr>
        <p:spPr>
          <a:xfrm>
            <a:off x="8394192" y="1417320"/>
            <a:ext cx="1508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94192" y="1417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165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parâmetros com fonte</a:t>
            </a:r>
            <a:endParaRPr lang="en-US" sz="3000" dirty="0"/>
          </a:p>
        </p:txBody>
      </p:sp>
      <p:sp>
        <p:nvSpPr>
          <p:cNvPr id="10" name="stat-versão da base"/>
          <p:cNvSpPr/>
          <p:nvPr/>
        </p:nvSpPr>
        <p:spPr>
          <a:xfrm>
            <a:off x="10067544" y="1417320"/>
            <a:ext cx="1508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67544" y="1417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1.9.0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versão da base</a:t>
            </a:r>
            <a:endParaRPr lang="en-US" sz="3000" dirty="0"/>
          </a:p>
        </p:txBody>
      </p:sp>
      <p:graphicFrame>
        <p:nvGraphicFramePr>
          <p:cNvPr id="7" name="tabela-param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743200"/>
          <a:ext cx="48920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155448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params.yaml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Fonte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Força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3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itu_limiar_holandes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72 ITU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Ravagnolo 2000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queda_7d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−10% em 7 d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Dossiê ACP-08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janela_supressao_h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48 h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UBC/Farmwest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fator_energia_min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0,95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Dossiê VER-01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D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1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cf_limiar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0,2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Convenção MYCIN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19"/>
                          </a:solidFill>
                        </a:rPr>
                        <a:t>C</a:t>
                      </a:r>
                      <a:endParaRPr lang="en-US" sz="11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720840" y="52578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Nenhum número fixo dentro da regra: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limiares vivem em params.yaml (força A = norma … D = escolha de engenharia) e entram como @params.nome.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MOTOR DE INFERÊNCIA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Como o motor resolve conflitos</a:t>
            </a:r>
            <a:endParaRPr lang="en-US" sz="3400" dirty="0"/>
          </a:p>
        </p:txBody>
      </p:sp>
      <p:sp>
        <p:nvSpPr>
          <p:cNvPr id="4" name="fluxo-1"/>
          <p:cNvSpPr/>
          <p:nvPr/>
        </p:nvSpPr>
        <p:spPr>
          <a:xfrm>
            <a:off x="548640" y="1463040"/>
            <a:ext cx="19659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5" name="num-1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Memória de trabalho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fatos com valor, CF e origem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51176" y="230886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fluxo-2"/>
          <p:cNvSpPr/>
          <p:nvPr/>
        </p:nvSpPr>
        <p:spPr>
          <a:xfrm>
            <a:off x="2825496" y="1463040"/>
            <a:ext cx="19659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num-2"/>
          <p:cNvSpPr/>
          <p:nvPr/>
        </p:nvSpPr>
        <p:spPr>
          <a:xfrm>
            <a:off x="2962656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265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20574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Casamento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premissa com CF &lt; 0,2 não sustenta a regra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28032" y="230886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fluxo-3"/>
          <p:cNvSpPr/>
          <p:nvPr/>
        </p:nvSpPr>
        <p:spPr>
          <a:xfrm>
            <a:off x="5102352" y="1463040"/>
            <a:ext cx="196596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5" name="num-3"/>
          <p:cNvSpPr/>
          <p:nvPr/>
        </p:nvSpPr>
        <p:spPr>
          <a:xfrm>
            <a:off x="5239512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3951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39512" y="20574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Conjunto de conflito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módulo → prioridade → especificidade → recência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04888" y="230886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fluxo-4"/>
          <p:cNvSpPr/>
          <p:nvPr/>
        </p:nvSpPr>
        <p:spPr>
          <a:xfrm>
            <a:off x="7379208" y="1463040"/>
            <a:ext cx="19659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0" name="num-4"/>
          <p:cNvSpPr/>
          <p:nvPr/>
        </p:nvSpPr>
        <p:spPr>
          <a:xfrm>
            <a:off x="7516368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1636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16368" y="20574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Dispara 1 regra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CF = cf_regra × min(premissas); refração: não repete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81744" y="230886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fluxo-5"/>
          <p:cNvSpPr/>
          <p:nvPr/>
        </p:nvSpPr>
        <p:spPr>
          <a:xfrm>
            <a:off x="9656064" y="1463040"/>
            <a:ext cx="19659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5" name="num-5"/>
          <p:cNvSpPr/>
          <p:nvPr/>
        </p:nvSpPr>
        <p:spPr>
          <a:xfrm>
            <a:off x="9793224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9322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93224" y="20574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Traço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regra, fatos, CF e fonte: vira o “como?” e o “por quê?”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639044" y="3172968"/>
            <a:ext cx="0" cy="32918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531620" y="3502152"/>
            <a:ext cx="91074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531620" y="3191256"/>
            <a:ext cx="0" cy="310896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206240" y="3364992"/>
            <a:ext cx="37490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repete até nenhuma regra casar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886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 último, as meta-regras arbitram entre conclusões</a:t>
            </a:r>
            <a:endParaRPr lang="en-US" sz="1600" dirty="0"/>
          </a:p>
        </p:txBody>
      </p:sp>
      <p:sp>
        <p:nvSpPr>
          <p:cNvPr id="33" name="meta-META-01"/>
          <p:cNvSpPr/>
          <p:nvPr/>
        </p:nvSpPr>
        <p:spPr>
          <a:xfrm>
            <a:off x="548640" y="4343400"/>
            <a:ext cx="22402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434840"/>
            <a:ext cx="1965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5"/>
                </a:solidFill>
              </a:rPr>
              <a:t>META-01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Mastite primeiro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lactose baixa + CCS subindo suprime a recomendação de dieta</a:t>
            </a:r>
            <a:endParaRPr lang="en-US" sz="1000" dirty="0"/>
          </a:p>
        </p:txBody>
      </p:sp>
      <p:sp>
        <p:nvSpPr>
          <p:cNvPr id="35" name="meta-META-02"/>
          <p:cNvSpPr/>
          <p:nvPr/>
        </p:nvSpPr>
        <p:spPr>
          <a:xfrm>
            <a:off x="2944368" y="4343400"/>
            <a:ext cx="22402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81528" y="4434840"/>
            <a:ext cx="1965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5"/>
                </a:solidFill>
              </a:rPr>
              <a:t>META-02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Calor explica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queda com ITU alto rebaixa os alertas de dieta</a:t>
            </a:r>
            <a:endParaRPr lang="en-US" sz="1000" dirty="0"/>
          </a:p>
        </p:txBody>
      </p:sp>
      <p:sp>
        <p:nvSpPr>
          <p:cNvPr id="37" name="meta-META-03/04"/>
          <p:cNvSpPr/>
          <p:nvPr/>
        </p:nvSpPr>
        <p:spPr>
          <a:xfrm>
            <a:off x="5340096" y="4343400"/>
            <a:ext cx="22402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77256" y="4434840"/>
            <a:ext cx="1965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5"/>
                </a:solidFill>
              </a:rPr>
              <a:t>META-03/04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Espera 48 h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após mover vacas ou corrigir a MS, sem alerta de queda</a:t>
            </a:r>
            <a:endParaRPr lang="en-US" sz="1000" dirty="0"/>
          </a:p>
        </p:txBody>
      </p:sp>
      <p:sp>
        <p:nvSpPr>
          <p:cNvPr id="39" name="exemplo-cf"/>
          <p:cNvSpPr/>
          <p:nvPr/>
        </p:nvSpPr>
        <p:spPr>
          <a:xfrm>
            <a:off x="7863840" y="3886200"/>
            <a:ext cx="3749040" cy="2148840"/>
          </a:xfrm>
          <a:prstGeom prst="roundRect">
            <a:avLst>
              <a:gd name="adj" fmla="val 4255"/>
            </a:avLst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92440" y="397764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Evidências se somam (MYCIN)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G:P baixa (0,7) + fezes fluidas (0,6)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→ acidose com CF 0,88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 + 0,6 × (1 − 0,7) = 0,88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PROCESSO DE DESENVOLVIMENTO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Como trabalhamos junto com a IA</a:t>
            </a:r>
            <a:endParaRPr lang="en-US" sz="3400" dirty="0"/>
          </a:p>
        </p:txBody>
      </p:sp>
      <p:sp>
        <p:nvSpPr>
          <p:cNvPr id="4" name="lado-0"/>
          <p:cNvSpPr/>
          <p:nvPr/>
        </p:nvSpPr>
        <p:spPr>
          <a:xfrm>
            <a:off x="548640" y="1417320"/>
            <a:ext cx="53949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lado-icone-0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lado-icone-0-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IA (Claude Code)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488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Escreveu o código e as regras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Pesquisou fontes, com URL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Auditou: subagentes conferiram cada número</a:t>
            </a:r>
            <a:endParaRPr lang="en-US" sz="1500" dirty="0"/>
          </a:p>
        </p:txBody>
      </p:sp>
      <p:sp>
        <p:nvSpPr>
          <p:cNvPr id="9" name="lado-1"/>
          <p:cNvSpPr/>
          <p:nvPr/>
        </p:nvSpPr>
        <p:spPr>
          <a:xfrm>
            <a:off x="6217920" y="1417320"/>
            <a:ext cx="53949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lado-icone-1"/>
          <p:cNvSpPr/>
          <p:nvPr/>
        </p:nvSpPr>
        <p:spPr>
          <a:xfrm>
            <a:off x="6492240" y="16459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lado-icone-1-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8324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time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1488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Decidiu o escopo e as prioridades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Revisou o que a IA produziu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Testou usando como o produtor usa</a:t>
            </a:r>
            <a:endParaRPr lang="en-US" sz="1500" dirty="0"/>
          </a:p>
        </p:txBody>
      </p:sp>
      <p:sp>
        <p:nvSpPr>
          <p:cNvPr id="14" name="linha-tempo"/>
          <p:cNvSpPr/>
          <p:nvPr/>
        </p:nvSpPr>
        <p:spPr>
          <a:xfrm>
            <a:off x="1097280" y="4160520"/>
            <a:ext cx="99486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marco-0"/>
          <p:cNvSpPr/>
          <p:nvPr/>
        </p:nvSpPr>
        <p:spPr>
          <a:xfrm>
            <a:off x="969264" y="40325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0" y="4389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</a:rPr>
              <a:t>20/10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Pesquisa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dossiê, dados e regras candidatas</a:t>
            </a:r>
            <a:endParaRPr lang="en-US" sz="1100" dirty="0"/>
          </a:p>
        </p:txBody>
      </p:sp>
      <p:sp>
        <p:nvSpPr>
          <p:cNvPr id="17" name="marco-1"/>
          <p:cNvSpPr/>
          <p:nvPr/>
        </p:nvSpPr>
        <p:spPr>
          <a:xfrm>
            <a:off x="3456432" y="40325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87168" y="4389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</a:rPr>
              <a:t>21/10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Plano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plano completo + CLAUDE.md comum aos 3</a:t>
            </a:r>
            <a:endParaRPr lang="en-US" sz="1100" dirty="0"/>
          </a:p>
        </p:txBody>
      </p:sp>
      <p:sp>
        <p:nvSpPr>
          <p:cNvPr id="19" name="marco-2"/>
          <p:cNvSpPr/>
          <p:nvPr/>
        </p:nvSpPr>
        <p:spPr>
          <a:xfrm>
            <a:off x="5943600" y="40325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74336" y="4389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</a:rPr>
              <a:t>21/10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Testes primeiro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cálculos contra valores publicados</a:t>
            </a:r>
            <a:endParaRPr lang="en-US" sz="1100" dirty="0"/>
          </a:p>
        </p:txBody>
      </p:sp>
      <p:sp>
        <p:nvSpPr>
          <p:cNvPr id="21" name="marco-3"/>
          <p:cNvSpPr/>
          <p:nvPr/>
        </p:nvSpPr>
        <p:spPr>
          <a:xfrm>
            <a:off x="8430768" y="40325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61504" y="4389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</a:rPr>
              <a:t>21/10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Auditoria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34% das dietas “ótimas” reprovadas → 0</a:t>
            </a:r>
            <a:endParaRPr lang="en-US" sz="1100" dirty="0"/>
          </a:p>
        </p:txBody>
      </p:sp>
      <p:sp>
        <p:nvSpPr>
          <p:cNvPr id="23" name="marco-4"/>
          <p:cNvSpPr/>
          <p:nvPr/>
        </p:nvSpPr>
        <p:spPr>
          <a:xfrm>
            <a:off x="10917936" y="40325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948672" y="4389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5"/>
                </a:solidFill>
              </a:rPr>
              <a:t>22/10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Uso real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 time como produtor, no PC e no celular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Cada etapa e os prompts principais estão em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docs/processo-ia.md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Toda alteração passa pelos casos de teste</a:t>
            </a:r>
            <a:endParaRPr lang="en-US" sz="3400" dirty="0"/>
          </a:p>
        </p:txBody>
      </p:sp>
      <p:sp>
        <p:nvSpPr>
          <p:cNvPr id="4" name="num-teste-0"/>
          <p:cNvSpPr/>
          <p:nvPr/>
        </p:nvSpPr>
        <p:spPr>
          <a:xfrm>
            <a:off x="548640" y="1417320"/>
            <a:ext cx="320040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83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479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testes automatizados (pytest)</a:t>
            </a:r>
            <a:endParaRPr lang="en-US" sz="4000" dirty="0"/>
          </a:p>
        </p:txBody>
      </p:sp>
      <p:sp>
        <p:nvSpPr>
          <p:cNvPr id="6" name="num-teste-1"/>
          <p:cNvSpPr/>
          <p:nvPr/>
        </p:nvSpPr>
        <p:spPr>
          <a:xfrm>
            <a:off x="548640" y="2898648"/>
            <a:ext cx="3200400" cy="1298448"/>
          </a:xfrm>
          <a:prstGeom prst="roundRect">
            <a:avLst>
              <a:gd name="adj" fmla="val 5634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98648"/>
            <a:ext cx="283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37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casos com resultado conhecido</a:t>
            </a:r>
            <a:endParaRPr lang="en-US" sz="4000" dirty="0"/>
          </a:p>
        </p:txBody>
      </p:sp>
      <p:sp>
        <p:nvSpPr>
          <p:cNvPr id="8" name="num-teste-2"/>
          <p:cNvSpPr/>
          <p:nvPr/>
        </p:nvSpPr>
        <p:spPr>
          <a:xfrm>
            <a:off x="548640" y="4379976"/>
            <a:ext cx="320040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379976"/>
            <a:ext cx="283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perfis: dieta do PL × verificação</a:t>
            </a:r>
            <a:endParaRPr lang="en-US" sz="4000" dirty="0"/>
          </a:p>
        </p:txBody>
      </p:sp>
      <p:sp>
        <p:nvSpPr>
          <p:cNvPr id="10" name="origem-0"/>
          <p:cNvSpPr/>
          <p:nvPr/>
        </p:nvSpPr>
        <p:spPr>
          <a:xfrm>
            <a:off x="4206240" y="146304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2857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9392" y="146304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Código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motor, cálculo, PL: pytest verde antes de commitar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30568" y="1943100"/>
            <a:ext cx="557784" cy="91897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origem-1"/>
          <p:cNvSpPr/>
          <p:nvPr/>
        </p:nvSpPr>
        <p:spPr>
          <a:xfrm>
            <a:off x="4206240" y="269748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2857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79392" y="269748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Regra no YAML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validador da base + casos conhecidos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6830568" y="2862072"/>
            <a:ext cx="557784" cy="31546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origem-2"/>
          <p:cNvSpPr/>
          <p:nvPr/>
        </p:nvSpPr>
        <p:spPr>
          <a:xfrm>
            <a:off x="4206240" y="393192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9392" y="393192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Parâmetro na interface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sobe a versão, registra no CHANGELOG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flipV="1">
            <a:off x="6830568" y="2862072"/>
            <a:ext cx="557784" cy="154990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asos-centro"/>
          <p:cNvSpPr/>
          <p:nvPr/>
        </p:nvSpPr>
        <p:spPr>
          <a:xfrm>
            <a:off x="7406640" y="2130552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9792" y="2130552"/>
            <a:ext cx="16824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Casos de teste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rodam a cada mudança</a:t>
            </a:r>
            <a:endParaRPr lang="en-US" sz="1700" dirty="0"/>
          </a:p>
        </p:txBody>
      </p:sp>
      <p:sp>
        <p:nvSpPr>
          <p:cNvPr id="21" name="passou"/>
          <p:cNvSpPr/>
          <p:nvPr/>
        </p:nvSpPr>
        <p:spPr>
          <a:xfrm>
            <a:off x="9829800" y="1691640"/>
            <a:ext cx="1783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02952" y="1691640"/>
            <a:ext cx="1636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Passou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a mudança entra na base</a:t>
            </a:r>
            <a:endParaRPr lang="en-US" sz="1600" dirty="0"/>
          </a:p>
        </p:txBody>
      </p:sp>
      <p:sp>
        <p:nvSpPr>
          <p:cNvPr id="23" name="falhou"/>
          <p:cNvSpPr/>
          <p:nvPr/>
        </p:nvSpPr>
        <p:spPr>
          <a:xfrm>
            <a:off x="9829800" y="3063240"/>
            <a:ext cx="17830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02952" y="3063240"/>
            <a:ext cx="1636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Falhou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mostra o caso e a regra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9253728" y="2194560"/>
            <a:ext cx="557784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53728" y="3017520"/>
            <a:ext cx="557784" cy="5029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20624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Casos para cada etapa do motor</a:t>
            </a:r>
            <a:endParaRPr lang="en-US" sz="1300" dirty="0"/>
          </a:p>
        </p:txBody>
      </p:sp>
      <p:sp>
        <p:nvSpPr>
          <p:cNvPr id="28" name="chip-Classificação"/>
          <p:cNvSpPr/>
          <p:nvPr/>
        </p:nvSpPr>
        <p:spPr>
          <a:xfrm>
            <a:off x="4206240" y="54864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0" y="5486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Classificação</a:t>
            </a:r>
            <a:endParaRPr lang="en-US" sz="1100" dirty="0"/>
          </a:p>
        </p:txBody>
      </p:sp>
      <p:sp>
        <p:nvSpPr>
          <p:cNvPr id="30" name="chip-Exigências"/>
          <p:cNvSpPr/>
          <p:nvPr/>
        </p:nvSpPr>
        <p:spPr>
          <a:xfrm>
            <a:off x="5394960" y="54864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0" y="5486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Exigências</a:t>
            </a:r>
            <a:endParaRPr lang="en-US" sz="1100" dirty="0"/>
          </a:p>
        </p:txBody>
      </p:sp>
      <p:sp>
        <p:nvSpPr>
          <p:cNvPr id="32" name="chip-Verificação"/>
          <p:cNvSpPr/>
          <p:nvPr/>
        </p:nvSpPr>
        <p:spPr>
          <a:xfrm>
            <a:off x="6583680" y="54864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5486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Verificação</a:t>
            </a:r>
            <a:endParaRPr lang="en-US" sz="1100" dirty="0"/>
          </a:p>
        </p:txBody>
      </p:sp>
      <p:sp>
        <p:nvSpPr>
          <p:cNvPr id="34" name="chip-Formulação (PL)"/>
          <p:cNvSpPr/>
          <p:nvPr/>
        </p:nvSpPr>
        <p:spPr>
          <a:xfrm>
            <a:off x="7772400" y="54864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5486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Formulação (PL)</a:t>
            </a:r>
            <a:endParaRPr lang="en-US" sz="1100" dirty="0"/>
          </a:p>
        </p:txBody>
      </p:sp>
      <p:sp>
        <p:nvSpPr>
          <p:cNvPr id="36" name="chip-Acompanhamento"/>
          <p:cNvSpPr/>
          <p:nvPr/>
        </p:nvSpPr>
        <p:spPr>
          <a:xfrm>
            <a:off x="8961120" y="54864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61120" y="5486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Acompanhamento</a:t>
            </a:r>
            <a:endParaRPr lang="en-US" sz="1100" dirty="0"/>
          </a:p>
        </p:txBody>
      </p:sp>
      <p:sp>
        <p:nvSpPr>
          <p:cNvPr id="38" name="chip-Meta-regras"/>
          <p:cNvSpPr/>
          <p:nvPr/>
        </p:nvSpPr>
        <p:spPr>
          <a:xfrm>
            <a:off x="10469880" y="54864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69880" y="5486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Meta-regras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LIMITAÇÕES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ainda falta para ir a campo</a:t>
            </a:r>
            <a:endParaRPr lang="en-US" sz="3400" dirty="0"/>
          </a:p>
        </p:txBody>
      </p:sp>
      <p:sp>
        <p:nvSpPr>
          <p:cNvPr id="4" name="limite-0"/>
          <p:cNvSpPr/>
          <p:nvPr/>
        </p:nvSpPr>
        <p:spPr>
          <a:xfrm>
            <a:off x="548640" y="1463040"/>
            <a:ext cx="35204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limite-icone-0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limite-icone-0-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025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Valores de referência a validar com zootecnista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Cada limiar tem fonte e força A–D; 80 dos 165 parâmetros são escolhas de engenharia (força D), marcadas e editáveis.</a:t>
            </a:r>
            <a:endParaRPr lang="en-US" sz="1800" dirty="0"/>
          </a:p>
        </p:txBody>
      </p:sp>
      <p:sp>
        <p:nvSpPr>
          <p:cNvPr id="8" name="limite-1"/>
          <p:cNvSpPr/>
          <p:nvPr/>
        </p:nvSpPr>
        <p:spPr>
          <a:xfrm>
            <a:off x="4325112" y="1463040"/>
            <a:ext cx="35204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9" name="limite-icone-1"/>
          <p:cNvSpPr/>
          <p:nvPr/>
        </p:nvSpPr>
        <p:spPr>
          <a:xfrm>
            <a:off x="4645152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limite-icone-1-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00253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5152" y="292608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Sem controle por vaca, sensores ou KPIs reprodutivos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sistema trabalha por lote; dados individuais, colares e reprodução ficaram fora do escopo.</a:t>
            </a:r>
            <a:endParaRPr lang="en-US" sz="1800" dirty="0"/>
          </a:p>
        </p:txBody>
      </p:sp>
      <p:sp>
        <p:nvSpPr>
          <p:cNvPr id="12" name="limite-2"/>
          <p:cNvSpPr/>
          <p:nvPr/>
        </p:nvSpPr>
        <p:spPr>
          <a:xfrm>
            <a:off x="8101584" y="1463040"/>
            <a:ext cx="35204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3" name="limite-icone-2"/>
          <p:cNvSpPr/>
          <p:nvPr/>
        </p:nvSpPr>
        <p:spPr>
          <a:xfrm>
            <a:off x="8421624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limite-icone-2-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00253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21624" y="292608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Validação e ajustes com valores reais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demonstração usa uma fazenda simulada com 60 dias; falta calibrar com dados de fazendas reais.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Próximo passo: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revisar a base com um zootecnista e rodar o acompanhamento em fazendas parceiras.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eu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O QUE APRENDEMOS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Três lições do caminho</a:t>
            </a:r>
            <a:endParaRPr lang="en-US" sz="3400" dirty="0"/>
          </a:p>
        </p:txBody>
      </p:sp>
      <p:sp>
        <p:nvSpPr>
          <p:cNvPr id="4" name="licao-0"/>
          <p:cNvSpPr/>
          <p:nvPr/>
        </p:nvSpPr>
        <p:spPr>
          <a:xfrm>
            <a:off x="548640" y="146304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5" name="licao-icone-0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licao-icone-0-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9001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463040"/>
            <a:ext cx="9418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Sistema especialista na prática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Regras explícitas, fator de certeza e encadeamento tornam cada decisão auditável e explicável.</a:t>
            </a:r>
            <a:endParaRPr lang="en-US" sz="2000" dirty="0"/>
          </a:p>
        </p:txBody>
      </p:sp>
      <p:sp>
        <p:nvSpPr>
          <p:cNvPr id="8" name="licao-1"/>
          <p:cNvSpPr/>
          <p:nvPr/>
        </p:nvSpPr>
        <p:spPr>
          <a:xfrm>
            <a:off x="548640" y="301752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9" name="licao-icone-1"/>
          <p:cNvSpPr/>
          <p:nvPr/>
        </p:nvSpPr>
        <p:spPr>
          <a:xfrm>
            <a:off x="822960" y="3246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licao-icone-1-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" y="345460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65960" y="3017520"/>
            <a:ext cx="9418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Planejar antes de codificar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Um plano completo e regras de trabalho comuns mantiveram três pessoas e seus agentes no mesmo padrão.</a:t>
            </a:r>
            <a:endParaRPr lang="en-US" sz="2000" dirty="0"/>
          </a:p>
        </p:txBody>
      </p:sp>
      <p:sp>
        <p:nvSpPr>
          <p:cNvPr id="12" name="licao-2"/>
          <p:cNvSpPr/>
          <p:nvPr/>
        </p:nvSpPr>
        <p:spPr>
          <a:xfrm>
            <a:off x="548640" y="457200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3" name="licao-icone-2"/>
          <p:cNvSpPr/>
          <p:nvPr/>
        </p:nvSpPr>
        <p:spPr>
          <a:xfrm>
            <a:off x="822960" y="48006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licao-icone-2-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500908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65960" y="4572000"/>
            <a:ext cx="9418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Usar como o produtor usa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Os testes com o sistema na mão revelaram problemas que nenhum teste automático pegou.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CONSIDERAÇÕES FINAIS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 “formular” ao “acompanhar”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 CochoCerto formula a dieta de custo mínimo, acompanha o lote no dia a dia e propõe o ajuste. Quem decide é sempre a base de conhecimento com o motor de inferência, e cada conclusão vem com o seu “por quê?”.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173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regras de produção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749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479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testes automatizados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3749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decisões tomadas por LLM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823960" y="3749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100%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em localhost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Obrigado!  Perguntas?</a:t>
            </a:r>
            <a:endParaRPr lang="en-US" sz="32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73152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731520" y="32461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choCerto">
  <a:themeElements>
    <a:clrScheme name="CochoCerto">
      <a:dk1>
        <a:srgbClr val="162019"/>
      </a:dk1>
      <a:lt1>
        <a:srgbClr val="FFFFFF"/>
      </a:lt1>
      <a:dk2>
        <a:srgbClr val="1C4325"/>
      </a:dk2>
      <a:lt2>
        <a:srgbClr val="EEF5EE"/>
      </a:lt2>
      <a:accent1>
        <a:srgbClr val="2F6B3B"/>
      </a:accent1>
      <a:accent2>
        <a:srgbClr val="F2C230"/>
      </a:accent2>
      <a:accent3>
        <a:srgbClr val="3F8A4C"/>
      </a:accent3>
      <a:accent4>
        <a:srgbClr val="B3261E"/>
      </a:accent4>
      <a:accent5>
        <a:srgbClr val="B8890A"/>
      </a:accent5>
      <a:accent6>
        <a:srgbClr val="646F60"/>
      </a:accent6>
      <a:hlink>
        <a:srgbClr val="2F5D8A"/>
      </a:hlink>
      <a:folHlink>
        <a:srgbClr val="646F60"/>
      </a:folHlink>
    </a:clrScheme>
    <a:fontScheme name="CochoCert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Hackathon UFJF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CochoCerto — Hackathon UFJF 2026</dc:title>
  <dc:subject>PptxGenJS Presentation</dc:subject>
  <dc:creator>PptxGenJS</dc:creator>
  <cp:lastModifiedBy>PptxGenJS</cp:lastModifiedBy>
  <cp:revision>1</cp:revision>
  <dcterms:created xsi:type="dcterms:W3CDTF">2026-10-22T21:38:10Z</dcterms:created>
  <dcterms:modified xsi:type="dcterms:W3CDTF">2026-10-22T21:38:10Z</dcterms:modified>
</cp:coreProperties>
</file>